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67"/>
  </p:normalViewPr>
  <p:slideViewPr>
    <p:cSldViewPr snapToGrid="0">
      <p:cViewPr varScale="1">
        <p:scale>
          <a:sx n="144" d="100"/>
          <a:sy n="144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FD5A0D-4F83-4A8A-AD17-C2F130D9A1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A3025F5-0834-4E82-9AA7-47F8F3E01009}">
      <dgm:prSet/>
      <dgm:spPr/>
      <dgm:t>
        <a:bodyPr/>
        <a:lstStyle/>
        <a:p>
          <a:r>
            <a:rPr lang="en-US"/>
            <a:t>Every major corporation you know exists because of strategic choices.</a:t>
          </a:r>
        </a:p>
      </dgm:t>
    </dgm:pt>
    <dgm:pt modelId="{F07E2376-9725-47A5-B87A-3004753C5C10}" type="parTrans" cxnId="{4B9CF8F4-0A8E-419A-BCF8-56663E47856B}">
      <dgm:prSet/>
      <dgm:spPr/>
      <dgm:t>
        <a:bodyPr/>
        <a:lstStyle/>
        <a:p>
          <a:endParaRPr lang="en-US"/>
        </a:p>
      </dgm:t>
    </dgm:pt>
    <dgm:pt modelId="{D8B5B192-9F8E-43B2-A506-375237691591}" type="sibTrans" cxnId="{4B9CF8F4-0A8E-419A-BCF8-56663E47856B}">
      <dgm:prSet/>
      <dgm:spPr/>
      <dgm:t>
        <a:bodyPr/>
        <a:lstStyle/>
        <a:p>
          <a:endParaRPr lang="en-US"/>
        </a:p>
      </dgm:t>
    </dgm:pt>
    <dgm:pt modelId="{3A5CCDBB-DB4D-44E6-8A94-B6CAEA69D0EA}">
      <dgm:prSet/>
      <dgm:spPr/>
      <dgm:t>
        <a:bodyPr/>
        <a:lstStyle/>
        <a:p>
          <a:r>
            <a:rPr lang="en-US"/>
            <a:t>These aren't just decisions; they are gambles, pivots, expansions, and retrenchments.</a:t>
          </a:r>
        </a:p>
      </dgm:t>
    </dgm:pt>
    <dgm:pt modelId="{ABCCF956-B087-4AA7-B3E2-A630E7B4E0E1}" type="parTrans" cxnId="{26F6F817-0731-4878-84F2-D62D8B0092F5}">
      <dgm:prSet/>
      <dgm:spPr/>
      <dgm:t>
        <a:bodyPr/>
        <a:lstStyle/>
        <a:p>
          <a:endParaRPr lang="en-US"/>
        </a:p>
      </dgm:t>
    </dgm:pt>
    <dgm:pt modelId="{AA834D9B-6C0E-4BE0-8D64-C6621A97CEA6}" type="sibTrans" cxnId="{26F6F817-0731-4878-84F2-D62D8B0092F5}">
      <dgm:prSet/>
      <dgm:spPr/>
      <dgm:t>
        <a:bodyPr/>
        <a:lstStyle/>
        <a:p>
          <a:endParaRPr lang="en-US"/>
        </a:p>
      </dgm:t>
    </dgm:pt>
    <dgm:pt modelId="{83BABD62-62A5-486F-8D6C-C021EF3FE139}">
      <dgm:prSet/>
      <dgm:spPr/>
      <dgm:t>
        <a:bodyPr/>
        <a:lstStyle/>
        <a:p>
          <a:r>
            <a:rPr lang="en-US"/>
            <a:t>In this course, we will learn to identify these choices, analyze their impact, and ultimately, advise on the next ones.</a:t>
          </a:r>
        </a:p>
      </dgm:t>
    </dgm:pt>
    <dgm:pt modelId="{56654106-1624-4D5C-A6EC-C11484D7CFCA}" type="parTrans" cxnId="{29ECFC16-2412-4F3E-B2AF-ECB64BF8E7AE}">
      <dgm:prSet/>
      <dgm:spPr/>
      <dgm:t>
        <a:bodyPr/>
        <a:lstStyle/>
        <a:p>
          <a:endParaRPr lang="en-US"/>
        </a:p>
      </dgm:t>
    </dgm:pt>
    <dgm:pt modelId="{091786D5-9D77-4A10-B60D-41CB60849A6B}" type="sibTrans" cxnId="{29ECFC16-2412-4F3E-B2AF-ECB64BF8E7AE}">
      <dgm:prSet/>
      <dgm:spPr/>
      <dgm:t>
        <a:bodyPr/>
        <a:lstStyle/>
        <a:p>
          <a:endParaRPr lang="en-US"/>
        </a:p>
      </dgm:t>
    </dgm:pt>
    <dgm:pt modelId="{9D731406-887A-44AF-AE57-3FE724327890}" type="pres">
      <dgm:prSet presAssocID="{CCFD5A0D-4F83-4A8A-AD17-C2F130D9A18A}" presName="root" presStyleCnt="0">
        <dgm:presLayoutVars>
          <dgm:dir/>
          <dgm:resizeHandles val="exact"/>
        </dgm:presLayoutVars>
      </dgm:prSet>
      <dgm:spPr/>
    </dgm:pt>
    <dgm:pt modelId="{7BC8A172-0494-49C9-865C-E06B73F82886}" type="pres">
      <dgm:prSet presAssocID="{8A3025F5-0834-4E82-9AA7-47F8F3E01009}" presName="compNode" presStyleCnt="0"/>
      <dgm:spPr/>
    </dgm:pt>
    <dgm:pt modelId="{0F506AF1-E78E-482D-9521-0EFDB8BC6A22}" type="pres">
      <dgm:prSet presAssocID="{8A3025F5-0834-4E82-9AA7-47F8F3E01009}" presName="bgRect" presStyleLbl="bgShp" presStyleIdx="0" presStyleCnt="3"/>
      <dgm:spPr/>
    </dgm:pt>
    <dgm:pt modelId="{09AA2BD3-2100-4469-88F0-1DD38FEBEA2B}" type="pres">
      <dgm:prSet presAssocID="{8A3025F5-0834-4E82-9AA7-47F8F3E010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1A208761-8535-4D7B-9006-49BC66EDBF5C}" type="pres">
      <dgm:prSet presAssocID="{8A3025F5-0834-4E82-9AA7-47F8F3E01009}" presName="spaceRect" presStyleCnt="0"/>
      <dgm:spPr/>
    </dgm:pt>
    <dgm:pt modelId="{4B58E21A-6E18-429A-86C1-80FDEDD5DD56}" type="pres">
      <dgm:prSet presAssocID="{8A3025F5-0834-4E82-9AA7-47F8F3E01009}" presName="parTx" presStyleLbl="revTx" presStyleIdx="0" presStyleCnt="3">
        <dgm:presLayoutVars>
          <dgm:chMax val="0"/>
          <dgm:chPref val="0"/>
        </dgm:presLayoutVars>
      </dgm:prSet>
      <dgm:spPr/>
    </dgm:pt>
    <dgm:pt modelId="{80474B3B-1ECD-4D6D-80B5-86029432C654}" type="pres">
      <dgm:prSet presAssocID="{D8B5B192-9F8E-43B2-A506-375237691591}" presName="sibTrans" presStyleCnt="0"/>
      <dgm:spPr/>
    </dgm:pt>
    <dgm:pt modelId="{92D18482-72C0-4C42-9E17-EBBA8E192423}" type="pres">
      <dgm:prSet presAssocID="{3A5CCDBB-DB4D-44E6-8A94-B6CAEA69D0EA}" presName="compNode" presStyleCnt="0"/>
      <dgm:spPr/>
    </dgm:pt>
    <dgm:pt modelId="{8D312CAD-CF2A-4F16-9B54-AF8E7D272A96}" type="pres">
      <dgm:prSet presAssocID="{3A5CCDBB-DB4D-44E6-8A94-B6CAEA69D0EA}" presName="bgRect" presStyleLbl="bgShp" presStyleIdx="1" presStyleCnt="3"/>
      <dgm:spPr/>
    </dgm:pt>
    <dgm:pt modelId="{5D4DF81E-3AEB-480F-9674-862C2DC6823B}" type="pres">
      <dgm:prSet presAssocID="{3A5CCDBB-DB4D-44E6-8A94-B6CAEA69D0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6EFB523D-6701-47DC-BDC7-CBEF7582351D}" type="pres">
      <dgm:prSet presAssocID="{3A5CCDBB-DB4D-44E6-8A94-B6CAEA69D0EA}" presName="spaceRect" presStyleCnt="0"/>
      <dgm:spPr/>
    </dgm:pt>
    <dgm:pt modelId="{3517D733-CA08-4B41-BC50-034094CCD44E}" type="pres">
      <dgm:prSet presAssocID="{3A5CCDBB-DB4D-44E6-8A94-B6CAEA69D0EA}" presName="parTx" presStyleLbl="revTx" presStyleIdx="1" presStyleCnt="3">
        <dgm:presLayoutVars>
          <dgm:chMax val="0"/>
          <dgm:chPref val="0"/>
        </dgm:presLayoutVars>
      </dgm:prSet>
      <dgm:spPr/>
    </dgm:pt>
    <dgm:pt modelId="{5E9F11C3-1CAF-46A5-B1EA-21EA5C806A84}" type="pres">
      <dgm:prSet presAssocID="{AA834D9B-6C0E-4BE0-8D64-C6621A97CEA6}" presName="sibTrans" presStyleCnt="0"/>
      <dgm:spPr/>
    </dgm:pt>
    <dgm:pt modelId="{90ED0B98-D35D-4E75-95C2-CFD3EAC24530}" type="pres">
      <dgm:prSet presAssocID="{83BABD62-62A5-486F-8D6C-C021EF3FE139}" presName="compNode" presStyleCnt="0"/>
      <dgm:spPr/>
    </dgm:pt>
    <dgm:pt modelId="{8CA68929-41CA-4DC7-8FAA-5237073808B1}" type="pres">
      <dgm:prSet presAssocID="{83BABD62-62A5-486F-8D6C-C021EF3FE139}" presName="bgRect" presStyleLbl="bgShp" presStyleIdx="2" presStyleCnt="3"/>
      <dgm:spPr/>
    </dgm:pt>
    <dgm:pt modelId="{E0D3FFB7-F7F5-4E80-83C6-1F7CD7CEBDBC}" type="pres">
      <dgm:prSet presAssocID="{83BABD62-62A5-486F-8D6C-C021EF3FE13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4F10ECDA-2D10-4E14-975C-ABA2288304D8}" type="pres">
      <dgm:prSet presAssocID="{83BABD62-62A5-486F-8D6C-C021EF3FE139}" presName="spaceRect" presStyleCnt="0"/>
      <dgm:spPr/>
    </dgm:pt>
    <dgm:pt modelId="{FE492B36-C9E4-46C2-9B4C-7FFE7B688A99}" type="pres">
      <dgm:prSet presAssocID="{83BABD62-62A5-486F-8D6C-C021EF3FE13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9ECFC16-2412-4F3E-B2AF-ECB64BF8E7AE}" srcId="{CCFD5A0D-4F83-4A8A-AD17-C2F130D9A18A}" destId="{83BABD62-62A5-486F-8D6C-C021EF3FE139}" srcOrd="2" destOrd="0" parTransId="{56654106-1624-4D5C-A6EC-C11484D7CFCA}" sibTransId="{091786D5-9D77-4A10-B60D-41CB60849A6B}"/>
    <dgm:cxn modelId="{26F6F817-0731-4878-84F2-D62D8B0092F5}" srcId="{CCFD5A0D-4F83-4A8A-AD17-C2F130D9A18A}" destId="{3A5CCDBB-DB4D-44E6-8A94-B6CAEA69D0EA}" srcOrd="1" destOrd="0" parTransId="{ABCCF956-B087-4AA7-B3E2-A630E7B4E0E1}" sibTransId="{AA834D9B-6C0E-4BE0-8D64-C6621A97CEA6}"/>
    <dgm:cxn modelId="{A438631B-4EBB-40E5-A38E-A90FD7ECBD1A}" type="presOf" srcId="{CCFD5A0D-4F83-4A8A-AD17-C2F130D9A18A}" destId="{9D731406-887A-44AF-AE57-3FE724327890}" srcOrd="0" destOrd="0" presId="urn:microsoft.com/office/officeart/2018/2/layout/IconVerticalSolidList"/>
    <dgm:cxn modelId="{55235437-BEFC-4DC2-B430-FAEB68E11852}" type="presOf" srcId="{3A5CCDBB-DB4D-44E6-8A94-B6CAEA69D0EA}" destId="{3517D733-CA08-4B41-BC50-034094CCD44E}" srcOrd="0" destOrd="0" presId="urn:microsoft.com/office/officeart/2018/2/layout/IconVerticalSolidList"/>
    <dgm:cxn modelId="{39E6A043-7F8A-403A-9F30-A8332469BC30}" type="presOf" srcId="{83BABD62-62A5-486F-8D6C-C021EF3FE139}" destId="{FE492B36-C9E4-46C2-9B4C-7FFE7B688A99}" srcOrd="0" destOrd="0" presId="urn:microsoft.com/office/officeart/2018/2/layout/IconVerticalSolidList"/>
    <dgm:cxn modelId="{CDE8FC4E-D269-4A5A-83A9-952A2D898EF2}" type="presOf" srcId="{8A3025F5-0834-4E82-9AA7-47F8F3E01009}" destId="{4B58E21A-6E18-429A-86C1-80FDEDD5DD56}" srcOrd="0" destOrd="0" presId="urn:microsoft.com/office/officeart/2018/2/layout/IconVerticalSolidList"/>
    <dgm:cxn modelId="{4B9CF8F4-0A8E-419A-BCF8-56663E47856B}" srcId="{CCFD5A0D-4F83-4A8A-AD17-C2F130D9A18A}" destId="{8A3025F5-0834-4E82-9AA7-47F8F3E01009}" srcOrd="0" destOrd="0" parTransId="{F07E2376-9725-47A5-B87A-3004753C5C10}" sibTransId="{D8B5B192-9F8E-43B2-A506-375237691591}"/>
    <dgm:cxn modelId="{FF123F24-DFF6-447D-B7E1-CB325C84FE77}" type="presParOf" srcId="{9D731406-887A-44AF-AE57-3FE724327890}" destId="{7BC8A172-0494-49C9-865C-E06B73F82886}" srcOrd="0" destOrd="0" presId="urn:microsoft.com/office/officeart/2018/2/layout/IconVerticalSolidList"/>
    <dgm:cxn modelId="{5641DF11-FF84-4D82-9EBF-E5F98D786DAA}" type="presParOf" srcId="{7BC8A172-0494-49C9-865C-E06B73F82886}" destId="{0F506AF1-E78E-482D-9521-0EFDB8BC6A22}" srcOrd="0" destOrd="0" presId="urn:microsoft.com/office/officeart/2018/2/layout/IconVerticalSolidList"/>
    <dgm:cxn modelId="{9FACE756-523A-4CF0-9028-D23579FAE331}" type="presParOf" srcId="{7BC8A172-0494-49C9-865C-E06B73F82886}" destId="{09AA2BD3-2100-4469-88F0-1DD38FEBEA2B}" srcOrd="1" destOrd="0" presId="urn:microsoft.com/office/officeart/2018/2/layout/IconVerticalSolidList"/>
    <dgm:cxn modelId="{52720FDF-BDF0-4E87-BCCB-376EF492F802}" type="presParOf" srcId="{7BC8A172-0494-49C9-865C-E06B73F82886}" destId="{1A208761-8535-4D7B-9006-49BC66EDBF5C}" srcOrd="2" destOrd="0" presId="urn:microsoft.com/office/officeart/2018/2/layout/IconVerticalSolidList"/>
    <dgm:cxn modelId="{2BB372ED-2563-46C0-9C1A-C25C5D3A3F77}" type="presParOf" srcId="{7BC8A172-0494-49C9-865C-E06B73F82886}" destId="{4B58E21A-6E18-429A-86C1-80FDEDD5DD56}" srcOrd="3" destOrd="0" presId="urn:microsoft.com/office/officeart/2018/2/layout/IconVerticalSolidList"/>
    <dgm:cxn modelId="{EB4689BF-3B30-49E8-933F-C97A7AD6EC36}" type="presParOf" srcId="{9D731406-887A-44AF-AE57-3FE724327890}" destId="{80474B3B-1ECD-4D6D-80B5-86029432C654}" srcOrd="1" destOrd="0" presId="urn:microsoft.com/office/officeart/2018/2/layout/IconVerticalSolidList"/>
    <dgm:cxn modelId="{51642594-D36F-496D-94B1-75B029B7B849}" type="presParOf" srcId="{9D731406-887A-44AF-AE57-3FE724327890}" destId="{92D18482-72C0-4C42-9E17-EBBA8E192423}" srcOrd="2" destOrd="0" presId="urn:microsoft.com/office/officeart/2018/2/layout/IconVerticalSolidList"/>
    <dgm:cxn modelId="{450D1BC7-4794-483B-BD12-563B4E79347D}" type="presParOf" srcId="{92D18482-72C0-4C42-9E17-EBBA8E192423}" destId="{8D312CAD-CF2A-4F16-9B54-AF8E7D272A96}" srcOrd="0" destOrd="0" presId="urn:microsoft.com/office/officeart/2018/2/layout/IconVerticalSolidList"/>
    <dgm:cxn modelId="{0C1A0776-1255-422F-882B-7E2A0B52FB16}" type="presParOf" srcId="{92D18482-72C0-4C42-9E17-EBBA8E192423}" destId="{5D4DF81E-3AEB-480F-9674-862C2DC6823B}" srcOrd="1" destOrd="0" presId="urn:microsoft.com/office/officeart/2018/2/layout/IconVerticalSolidList"/>
    <dgm:cxn modelId="{971128BC-08A1-4749-A502-98A5B4CAEF84}" type="presParOf" srcId="{92D18482-72C0-4C42-9E17-EBBA8E192423}" destId="{6EFB523D-6701-47DC-BDC7-CBEF7582351D}" srcOrd="2" destOrd="0" presId="urn:microsoft.com/office/officeart/2018/2/layout/IconVerticalSolidList"/>
    <dgm:cxn modelId="{66B81EB7-064C-4C40-9F32-D860A041E734}" type="presParOf" srcId="{92D18482-72C0-4C42-9E17-EBBA8E192423}" destId="{3517D733-CA08-4B41-BC50-034094CCD44E}" srcOrd="3" destOrd="0" presId="urn:microsoft.com/office/officeart/2018/2/layout/IconVerticalSolidList"/>
    <dgm:cxn modelId="{46BF4022-6BCD-4597-A2B4-B8C1F72FB97A}" type="presParOf" srcId="{9D731406-887A-44AF-AE57-3FE724327890}" destId="{5E9F11C3-1CAF-46A5-B1EA-21EA5C806A84}" srcOrd="3" destOrd="0" presId="urn:microsoft.com/office/officeart/2018/2/layout/IconVerticalSolidList"/>
    <dgm:cxn modelId="{ED0C95B2-530E-4195-B3B9-B9B01C2F448D}" type="presParOf" srcId="{9D731406-887A-44AF-AE57-3FE724327890}" destId="{90ED0B98-D35D-4E75-95C2-CFD3EAC24530}" srcOrd="4" destOrd="0" presId="urn:microsoft.com/office/officeart/2018/2/layout/IconVerticalSolidList"/>
    <dgm:cxn modelId="{63D04C57-0E76-4A45-ACA9-F9F535EAED1B}" type="presParOf" srcId="{90ED0B98-D35D-4E75-95C2-CFD3EAC24530}" destId="{8CA68929-41CA-4DC7-8FAA-5237073808B1}" srcOrd="0" destOrd="0" presId="urn:microsoft.com/office/officeart/2018/2/layout/IconVerticalSolidList"/>
    <dgm:cxn modelId="{FD2CCAC9-E052-48BF-96A0-B5F7E0E5C907}" type="presParOf" srcId="{90ED0B98-D35D-4E75-95C2-CFD3EAC24530}" destId="{E0D3FFB7-F7F5-4E80-83C6-1F7CD7CEBDBC}" srcOrd="1" destOrd="0" presId="urn:microsoft.com/office/officeart/2018/2/layout/IconVerticalSolidList"/>
    <dgm:cxn modelId="{33162972-1CB9-481B-99B3-35AD39698CAD}" type="presParOf" srcId="{90ED0B98-D35D-4E75-95C2-CFD3EAC24530}" destId="{4F10ECDA-2D10-4E14-975C-ABA2288304D8}" srcOrd="2" destOrd="0" presId="urn:microsoft.com/office/officeart/2018/2/layout/IconVerticalSolidList"/>
    <dgm:cxn modelId="{24BE9EDF-0619-4861-B1A9-A62C29017AA9}" type="presParOf" srcId="{90ED0B98-D35D-4E75-95C2-CFD3EAC24530}" destId="{FE492B36-C9E4-46C2-9B4C-7FFE7B688A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06AF1-E78E-482D-9521-0EFDB8BC6A22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AA2BD3-2100-4469-88F0-1DD38FEBEA2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8E21A-6E18-429A-86C1-80FDEDD5DD56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Every major corporation you know exists because of strategic choices.</a:t>
          </a:r>
        </a:p>
      </dsp:txBody>
      <dsp:txXfrm>
        <a:off x="1437631" y="531"/>
        <a:ext cx="9077968" cy="1244702"/>
      </dsp:txXfrm>
    </dsp:sp>
    <dsp:sp modelId="{8D312CAD-CF2A-4F16-9B54-AF8E7D272A96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4DF81E-3AEB-480F-9674-862C2DC6823B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17D733-CA08-4B41-BC50-034094CCD44E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These aren't just decisions; they are gambles, pivots, expansions, and retrenchments.</a:t>
          </a:r>
        </a:p>
      </dsp:txBody>
      <dsp:txXfrm>
        <a:off x="1437631" y="1556410"/>
        <a:ext cx="9077968" cy="1244702"/>
      </dsp:txXfrm>
    </dsp:sp>
    <dsp:sp modelId="{8CA68929-41CA-4DC7-8FAA-5237073808B1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D3FFB7-F7F5-4E80-83C6-1F7CD7CEBDBC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92B36-C9E4-46C2-9B4C-7FFE7B688A99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 this course, we will learn to identify these choices, analyze their impact, and ultimately, advise on the next ones.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C3DE-C5C0-E247-3842-7D145EFA0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71E90-6CF6-195A-0F94-CFDF18EB2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3D7F-24EF-5939-1CAE-48CC88B1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B1559-DDB6-A626-2D5A-DB499E44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93B6A-A094-E21E-9A4C-5D659D325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34768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B7FC-ACDA-DB2C-450C-387A3BB8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44072-F743-C759-F626-B0211B18F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FEC19-8094-6C96-5E39-BA627293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17BC5-22A3-32C8-5253-33603FF4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FDEFA-E0AF-CA36-C6F3-E8B6A8C7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9604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337C-4B29-BB1E-9F46-674C412D7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8AF78-3C10-C685-60A9-CA9F871B7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12F1C-A52B-438F-E708-0F4FB052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537E9-15D1-388D-080C-2A358B90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109A5-8316-A4CB-926C-C3515359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84881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6FA6-33AC-2FE4-5378-698E68DB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D65F-55E8-FFE6-428D-52C24FA53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F5AB3-8A13-210E-69EF-6083AC17C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2C43-B955-7028-94B4-572CD723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F802F-30CD-9039-F1F3-A9236091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77B37-CB62-14C7-DAEE-97168335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13210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D4BC-B9D1-7D7C-0F87-D52F3CAA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35142-5C10-E293-2D02-F20F7923D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005D6-ACEF-B08E-7344-4C513C880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CEFFE-4318-4B52-F3A4-A3500B807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B9E25-9F89-99AE-B7AD-4EE831C94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5FA303-DB16-DA5C-A870-1F5EA835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80284-CD04-E784-A2DF-E417F15CC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465DE2-1E54-FCDD-1121-13C40D44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224197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9F618-1F0B-E411-8648-B410CF9B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A792F-77A3-194B-1AE8-00515342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6195-609A-F7DE-4F13-7F4A289B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5E39A-DBE6-C62F-77A5-DB842413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416674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A3C93-88DE-2B1B-77B7-982C49B46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DDE7D-2EB1-E43A-D323-CF0CA003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40D1C-598D-C0A8-1C0B-26AE64DB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82021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E621-DC7C-5BEA-15A1-2EC475BC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F765F-35B3-0331-65D0-51AD6F5E9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8DDB7-26F6-2EAF-75D8-910A62A85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E560A-3D4A-C043-6117-C08AE9BA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BB2BC-24E3-614B-A239-3372D70B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9952D-FE39-BE2F-82FB-D3FB6EC8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55369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2ECA-733F-0C29-3017-189DB079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E8B87-1DF7-218E-6D64-9B81BABEE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C8F74-18AB-E4BE-1098-54C0954F2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21EC3-2425-126F-61E8-69ADA16E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59BA3-AA6B-CFDC-E19F-31F95EA2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F2966-E4FC-6713-14B6-67FCC2A3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63368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6B90-6C6E-DF6E-8CE2-65A96815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440F9-2D07-D513-1C8F-A2BC76419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B3A12-D743-45D0-192E-6BFC35D0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12AAA-5891-C250-865B-CEEC4DF4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48999-D974-AD5E-462F-9C9E98D3E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2674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DABBA-FB82-EC04-5762-C707CFFA3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9B4C3-2851-C89E-E8FC-DB98ABCE0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5741D-437F-C70D-9F72-45837B25E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15A14-2B8A-104A-C776-8F826600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0084A-E191-91BD-D830-64140856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20554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85E07-45DE-ECC6-11EB-E4254688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F2C27-FC8F-E34B-E710-F41B225E0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4D30C-8D00-ABF7-7221-13C54A76B6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AA27F-FEA6-D048-81A3-D8E55CA0D66C}" type="datetimeFigureOut">
              <a:rPr lang="en-MA" smtClean="0"/>
              <a:t>28/10/2025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697DD-E095-BB6E-2FFF-27386C070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2B66C-0105-28C7-C9E0-AE1D9A39A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50EB3-D29B-FF4D-AF1F-03BCEAC95093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7076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18715-68FC-78C4-E675-D6AD24CAC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Strategy In Motion: Choices that define Giants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One big red thumbtack in front of many smaller black thumbtacks">
            <a:extLst>
              <a:ext uri="{FF2B5EF4-FFF2-40B4-BE49-F238E27FC236}">
                <a16:creationId xmlns:a16="http://schemas.microsoft.com/office/drawing/2014/main" id="{CF0DC8A1-B784-8B13-7E8D-482D03E257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2" r="1" b="1"/>
          <a:stretch>
            <a:fillRect/>
          </a:stretch>
        </p:blipFill>
        <p:spPr>
          <a:xfrm>
            <a:off x="5922492" y="1314726"/>
            <a:ext cx="5536001" cy="416979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D5A31-6A44-200A-A0D9-70597AED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3809" y="6492240"/>
            <a:ext cx="376576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Adil Marzouk, Adjunct Lecturer Geneal Management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2180065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DF289A-BD16-6399-B0C1-E8AD185D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MA" dirty="0"/>
              <a:t>Your first Mission: To See the game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D7FB2C-FB2E-70FA-AC9B-2F851844BA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64448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045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69B6F9-7A1B-10AB-A651-0F704CE2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P&amp;G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420DE3-E5A0-1427-4D08-68575C0B3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Why would a company like P&amp;G Sell successful brands like Folgers Coffee and Pringles?</a:t>
            </a:r>
          </a:p>
          <a:p>
            <a:r>
              <a:rPr lang="en-US" sz="2000"/>
              <a:t>What’s the strategic rationale behind shrinking the company size?</a:t>
            </a:r>
          </a:p>
          <a:p>
            <a:r>
              <a:rPr lang="en-US" sz="2000"/>
              <a:t>What are the risks of such a move? What are the benefits</a:t>
            </a:r>
          </a:p>
        </p:txBody>
      </p:sp>
      <p:pic>
        <p:nvPicPr>
          <p:cNvPr id="10" name="Picture 9" descr="Procter &amp; Gamble Cruelty-Free or Vegan ...">
            <a:extLst>
              <a:ext uri="{FF2B5EF4-FFF2-40B4-BE49-F238E27FC236}">
                <a16:creationId xmlns:a16="http://schemas.microsoft.com/office/drawing/2014/main" id="{FCDF8F6D-DCF4-68ED-7498-A562AA47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534937"/>
            <a:ext cx="5150277" cy="361288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1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3173B-22F2-5C17-A6B5-94A4B563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Amazon’s Strategic pivot to “Everything Store”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D2BC5-F38D-C4A3-F8CB-F81F7DD64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What’s Amazon core strategy?</a:t>
            </a:r>
          </a:p>
          <a:p>
            <a:r>
              <a:rPr lang="en-US" sz="2000"/>
              <a:t>What do its expansions into seemingly unadjacent categories tell us about their strategic ambitions?</a:t>
            </a:r>
          </a:p>
          <a:p>
            <a:r>
              <a:rPr lang="en-US" sz="2000"/>
              <a:t>Why are they playing in these areas?</a:t>
            </a:r>
          </a:p>
        </p:txBody>
      </p:sp>
      <p:pic>
        <p:nvPicPr>
          <p:cNvPr id="7" name="Picture 6" descr="New Whole Foods Market in Huntington ...">
            <a:extLst>
              <a:ext uri="{FF2B5EF4-FFF2-40B4-BE49-F238E27FC236}">
                <a16:creationId xmlns:a16="http://schemas.microsoft.com/office/drawing/2014/main" id="{6557C833-9B6D-70C6-EE0E-97E2AE80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12087"/>
            <a:ext cx="5150277" cy="345858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3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1781-D2A2-EFEE-8E08-15D9C0C76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Tesla: Disrupting the Incumbents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313654-D2AA-3285-30A9-5E8871019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Why did Tesla choose to avoid the traditional dealership model? What strategic advantages did this give them?</a:t>
            </a:r>
          </a:p>
          <a:p>
            <a:r>
              <a:rPr lang="en-US" sz="2000"/>
              <a:t>How has this choice impacted the legacy automative companies? What did they have in response?</a:t>
            </a:r>
          </a:p>
        </p:txBody>
      </p:sp>
      <p:pic>
        <p:nvPicPr>
          <p:cNvPr id="7" name="Picture 6" descr="Just Sold: New Tesla dealership sells ...">
            <a:extLst>
              <a:ext uri="{FF2B5EF4-FFF2-40B4-BE49-F238E27FC236}">
                <a16:creationId xmlns:a16="http://schemas.microsoft.com/office/drawing/2014/main" id="{C550CCA0-A283-1F31-E5D9-1D3B00F082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56" r="499" b="1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93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57A3-8CB6-2D47-B279-294DB9F81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>
                <a:effectLst/>
              </a:rPr>
            </a:br>
            <a:r>
              <a:rPr lang="en-US"/>
              <a:t>The Consultant's Eye: Seeing the Future, Advising the Present</a:t>
            </a:r>
            <a:endParaRPr lang="en-M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57407-71FA-F048-BF60-9DD32339F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These companies didn't get where they are by accident. They made choices.</a:t>
            </a:r>
          </a:p>
          <a:p>
            <a:pPr fontAlgn="base"/>
            <a:r>
              <a:rPr lang="en-US" dirty="0"/>
              <a:t>They navigated global forces, intense competition, and internal challenges.</a:t>
            </a:r>
          </a:p>
          <a:p>
            <a:pPr fontAlgn="base"/>
            <a:r>
              <a:rPr lang="en-US" dirty="0"/>
              <a:t>Your role as a strategy consultant is to help leaders make these choices.</a:t>
            </a:r>
          </a:p>
          <a:p>
            <a:pPr fontAlgn="base"/>
            <a:r>
              <a:rPr lang="en-US" dirty="0"/>
              <a:t>It requires insight, foresight, and the courage to challenge assumptions.</a:t>
            </a:r>
          </a:p>
          <a:p>
            <a:endParaRPr lang="en-MA" dirty="0"/>
          </a:p>
        </p:txBody>
      </p:sp>
    </p:spTree>
    <p:extLst>
      <p:ext uri="{BB962C8B-B14F-4D97-AF65-F5344CB8AC3E}">
        <p14:creationId xmlns:p14="http://schemas.microsoft.com/office/powerpoint/2010/main" val="2751202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1. Master the rules</a:t>
            </a:r>
          </a:p>
          <a:p>
            <a:r>
              <a:rPr lang="en-US" sz="2100"/>
              <a:t>2. Leadership economics</a:t>
            </a:r>
          </a:p>
          <a:p>
            <a:r>
              <a:rPr lang="en-US" sz="2100"/>
              <a:t>3. Profit pools shift</a:t>
            </a:r>
          </a:p>
          <a:p>
            <a:r>
              <a:rPr lang="en-US" sz="2100"/>
              <a:t>4. Customer focus</a:t>
            </a:r>
          </a:p>
          <a:p>
            <a:r>
              <a:rPr lang="en-US" sz="2100"/>
              <a:t>5. Execution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A0798-E7FA-FA0C-B511-F648C7CE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 err="1"/>
              <a:t>source:https</a:t>
            </a:r>
            <a:r>
              <a:rPr lang="en-US" sz="900" dirty="0"/>
              <a:t>://</a:t>
            </a:r>
            <a:r>
              <a:rPr lang="en-US" sz="900" dirty="0" err="1"/>
              <a:t>www.bain.com</a:t>
            </a:r>
            <a:r>
              <a:rPr lang="en-US" sz="900" dirty="0"/>
              <a:t>/insights/</a:t>
            </a:r>
            <a:r>
              <a:rPr lang="en-US" sz="900" dirty="0" err="1"/>
              <a:t>bain</a:t>
            </a:r>
            <a:r>
              <a:rPr lang="en-US" sz="900" dirty="0"/>
              <a:t>-beliefs-on-strategy-story/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Turbulence persists but fundamentals endure.</a:t>
            </a:r>
          </a:p>
          <a:p>
            <a:r>
              <a:rPr lang="en-US" sz="2100"/>
              <a:t>Only ~10% of firms sustain long-term value creation.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396BE-EF1E-8A85-032E-BB46E24A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source:https://www.bain.com/insights/bain-beliefs-on-strategy-story/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Lesson 1: Master the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Define the business correctly.</a:t>
            </a:r>
          </a:p>
          <a:p>
            <a:r>
              <a:rPr lang="en-US" sz="2100"/>
              <a:t>Avoid too narrow or too broad definitions.</a:t>
            </a:r>
          </a:p>
          <a:p>
            <a:r>
              <a:rPr lang="en-US" sz="2100"/>
              <a:t>Reassess as markets evolve.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D2D95-7226-4645-BB6E-486D0530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source:https://www.bain.com/insights/bain-beliefs-on-strategy-story/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/>
              <a:t>Lesson 2: Leadership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Leaders capture most economic profit.</a:t>
            </a:r>
          </a:p>
          <a:p>
            <a:r>
              <a:rPr lang="en-US" sz="2100"/>
              <a:t>Aim for leadership or differentiate sharply.</a:t>
            </a:r>
          </a:p>
          <a:p>
            <a:r>
              <a:rPr lang="en-US" sz="2100"/>
              <a:t>Avoid complacency.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35A97-E3E2-49E9-68EF-03EB813D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source:https://www.bain.com/insights/bain-beliefs-on-strategy-story/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Lesson 3: Profit Pools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Map current and future profit pools.</a:t>
            </a:r>
          </a:p>
          <a:p>
            <a:r>
              <a:rPr lang="en-US" sz="2100"/>
              <a:t>Act before shifts happen.</a:t>
            </a:r>
          </a:p>
          <a:p>
            <a:r>
              <a:rPr lang="en-US" sz="2100"/>
              <a:t>Balance no-regrets moves and bets.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2C03A-983A-F6AB-8B46-49D0C882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source:https://www.bain.com/insights/bain-beliefs-on-strategy-story/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Lesson 4: Customer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Understand segments and drivers.</a:t>
            </a:r>
          </a:p>
          <a:p>
            <a:r>
              <a:rPr lang="en-US" sz="2100"/>
              <a:t>Identify high-profit customers.</a:t>
            </a:r>
          </a:p>
          <a:p>
            <a:r>
              <a:rPr lang="en-US" sz="2100"/>
              <a:t>Build customer intimacy as you scale.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7C178-BAE8-0972-B000-3DAD9E9E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source:https://www.bain.com/insights/bain-beliefs-on-strategy-story/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Lesson 5: Strategy =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/>
              <a:t>Execution is integral.</a:t>
            </a:r>
          </a:p>
          <a:p>
            <a:r>
              <a:rPr lang="en-US" sz="2100"/>
              <a:t>Speed and pilots enable learning.</a:t>
            </a:r>
          </a:p>
          <a:p>
            <a:r>
              <a:rPr lang="en-US" sz="2100"/>
              <a:t>Design operating model to deliver.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6C964-9401-C7FF-C8A2-6B433F86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source:https://www.bain.com/insights/bain-beliefs-on-strategy-story/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79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Summary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246" y="2599510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US" sz="2100" dirty="0"/>
              <a:t>Coherent framework linking 5 beliefs.</a:t>
            </a:r>
          </a:p>
          <a:p>
            <a:r>
              <a:rPr lang="en-US" sz="2100" dirty="0"/>
              <a:t>Review business definition, profit pools, customers, execution.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2D80C-1068-7724-559C-DA3B9DE1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492241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dirty="0" err="1"/>
              <a:t>source:https</a:t>
            </a:r>
            <a:r>
              <a:rPr lang="en-US" sz="900" dirty="0"/>
              <a:t>://</a:t>
            </a:r>
            <a:r>
              <a:rPr lang="en-US" sz="900" dirty="0" err="1"/>
              <a:t>www.bain.com</a:t>
            </a:r>
            <a:r>
              <a:rPr lang="en-US" sz="900" dirty="0"/>
              <a:t>/insights/</a:t>
            </a:r>
            <a:r>
              <a:rPr lang="en-US" sz="900" dirty="0" err="1"/>
              <a:t>bain</a:t>
            </a:r>
            <a:r>
              <a:rPr lang="en-US" sz="900" dirty="0"/>
              <a:t>-beliefs-on-strategy-story/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546</Words>
  <Application>Microsoft Macintosh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Strategy In Motion: Choices that define Giants</vt:lpstr>
      <vt:lpstr>Your first Mission: To See the game</vt:lpstr>
      <vt:lpstr>P&amp;G</vt:lpstr>
      <vt:lpstr>Amazon’s Strategic pivot to “Everything Store”</vt:lpstr>
      <vt:lpstr>Tesla: Disrupting the Incumbents</vt:lpstr>
      <vt:lpstr> The Consultant's Eye: Seeing the Future, Advising the Present</vt:lpstr>
      <vt:lpstr>Agenda</vt:lpstr>
      <vt:lpstr>Introduction</vt:lpstr>
      <vt:lpstr>Lesson 1: Master the Rules</vt:lpstr>
      <vt:lpstr>Lesson 2: Leadership Economics</vt:lpstr>
      <vt:lpstr>Lesson 3: Profit Pools Shift</vt:lpstr>
      <vt:lpstr>Lesson 4: Customer Focus</vt:lpstr>
      <vt:lpstr>Lesson 5: Strategy = Action</vt:lpstr>
      <vt:lpstr>Summary &amp; Implications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 MARZOUK</dc:creator>
  <cp:lastModifiedBy>Adil MARZOUK</cp:lastModifiedBy>
  <cp:revision>2</cp:revision>
  <dcterms:created xsi:type="dcterms:W3CDTF">2025-10-28T08:45:38Z</dcterms:created>
  <dcterms:modified xsi:type="dcterms:W3CDTF">2025-10-29T11:03:53Z</dcterms:modified>
</cp:coreProperties>
</file>